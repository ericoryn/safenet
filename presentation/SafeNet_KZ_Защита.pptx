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20 секунд
SafeNet KZ — рабочее пространство для аналитика. Оно помогает находить в публикациях и изображениях признаки платных розыгрышей, продвижения казино и инвестиционного привлечения. Вместо одной непрозрачной метки аналитик получает очередь, причины срабатывания и связи между материалами. Решение остаётся за человеком.
Основание: ТЗ, разделы 1–3;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25 секунд
Один и тот же механизм может появиться в тексте, транслите или картинке. При этом отдельное слово ещё ничего не доказывает: казино бывает темой новости, а конкурс может быть бесплатным. Поэтому мы рассматриваем сочетания признаков и их контекст по трём направлениям. Аналитик видит не только совпадение, но и основание приоритета.
Основание: ТЗ, разделы 3–4; SafeNet_KZ_Hackathon.pdf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30 секунд
Это снимок работающего интерфейса на казахском языке. Материалы сортируются по приоритету; фильтры позволяют сузить очередь по направлению, языку и состоянию. Кнопки Русский и Қазақша переключают меню, формы и объяснения. Оригинал публикации сохраняется без перевода. Граф и сводка вынесены в отдельные разделы. Интерфейс проверен и на узких экранах.
Основание: reports/ui/kk-desktop.png; reports/browser_acceptance.json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35 секунд
Покажу простой синтетический пример: «Казино. Жми ссылку». Движок находит игровой контекст, призыв и сочетание этих двух сигналов. Вклады тридцать, двадцать пять и двадцать дают семьдесят пять баллов. В карточке каждый вклад связан с точной цитатой. Если сообщение является новостью или содержит отрицание, контекст меняет результат. Это шкала приоритета, а не вероятность нарушения.
Основание: config/calibrated.toml; tests/unit/test_detection.py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35 секунд
Во вкладке графа видны связи материалов через общие домены и другие извлечённые сущности. На снимке — два синтетических материала с одним доменом. Аналитик может выбрать узел, увидеть соседей и вернуться к публикации. Прибавка к оценке ограничена пятнадцатью баллами. Уже усиленный результат не передаёт усиление дальше. Сама связь не доказывает общего владельца или нарушения.
Основание: reports/ui/pitch-graph.png; METHODOLOGY.md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30 секунд
Для картинки сначала выполняется OCR с русской и казахской моделями. Затем применяется та же логика, что и к обычному тексту. На примере бесплатного конкурса важно не потерять слова «без оплаты»: они меняют смысл. Распознанные фрагменты связаны с координатами изображения. После обработки сохраняется обезличенная реконструкция. Если распознавание не удалось, система показывает ошибку или неполный анализ, а не нулевой риск.
Основание: tests/fixtures/ocr/ru.png; tests/integration/test_ocr_real.py; METHODOLOGY.md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35 секунд
После разбора ошибок на train и validation мы расширили распознавание продвижения и транслита, исправили потерю новостного контекста. На повторной проверке прежних двухсот сорока материалов казино обнаружено в шестнадцати из сорока восьми положительных примеров, раньше — ни в одном. Ложных срабатываний этого трека стало ноль вместо двух. Но тридцать два примера всё ещё пропущены. Это прогресс на синтетической регрессии, не доказательство точности на реальных данных.
Основание: reports/evaluation/metrics.json; reports/evaluation-v3/metrics.json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30 секунд
В таблице — текущие результаты трёх направлений. Лучше всего на этом наборе работает трек розыгрышей. У казино высокая доля верных срабатываний, но низкая полнота. Инвестиционное привлечение также требует улучшения. При этом инженерная основа проверена: триста девять тестов прошли, решения и версии сохраняются, ошибки обработки выделены отдельно. Тесты сервиса не подменяют качество выявления.
Основание: reports/evaluation-v3/metrics.json; reports/pitch_tests.xml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30 секунд
Для воспроизводимости создано тысяча двести синтетических материалов, из них четыреста изображений. Семьи сценариев, кампании и сущности разделены между train, validation и test без пересечений. Пороги выбираются только на validation. Старый test уже открыт, поэтому текущие числа называем регрессией. Следующий рубеж — независимый набор и пилот на согласованных обезличенных данных. Маскирование и языковые правила остаются эвристическими.
Основание: reports/dataset_summary.json; ROADMAP.md; DEPLOYMENT.md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питч · 30 секунд
Предлагаем следующий шаг: выбрать партнёра для ограниченного пилота и согласовать обезличенные материалы. До начала зафиксировать допустимые ложные тревоги, полноту и время ручной проверки. Затем сравнить работу аналитика с системой и без неё, собрать решения и оценить результат на новом наборе. У нас уже есть рабочий сайт, объяснения, граф и сохраняемая обратная связь. Теперь нужно проверить практическую пользу на данных партнёра.
Основание: ROADMAP.md; DEMO.md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
Положительный прогноз — балл не ниже 45. Высокий приоритет — от 55. Пороги выбраны на validation; веса правил назначены вручную. Матрица ошибок имеет вид TN, FP / FN, TP. Для казино TP=16, FP=0, FN=32, TN=192. Нулевая доля ложных срабатываний на этой небольшой синтетической выборке не означает нулевую ошибку в реальном потоке. Повторная проверка прежнего test не является независимой оценкой.
Основание: reports/evaluation-v3/metrics.json; METHODOLOGY.md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
Это взвешенные правила, допустимые по ТЗ, а не обученный классификатор. Принимаем текст, готовые транскрипты и изображения; живого ASR и сбора закрытых групп нет. История результатов и действий аналитика сохраняется, переанализ создаёт новую версию. Для пилота нужны согласованные данные и критерии качества. Основные источники чисел: reports/evaluation-v3/metrics.json, reports/pitch_tests.xml, reports/dataset_summary.json. Исходный первый test сохранён в reports/evaluation/metrics.json.
Основание: README.md; ROADMAP.md; reports/PITCH_REVISION.md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ОБЪЯСНИМЫЙ АНАЛИЗ КОНТЕНТА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217627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3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публикации</a:t>
            </a:r>
            <a:endParaRPr lang="ru-RU" sz="4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43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обоснованному</a:t>
            </a:r>
            <a:endParaRPr lang="ru-RU" sz="4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43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решению</a:t>
            </a:r>
            <a:endParaRPr lang="ru-RU" sz="4300" dirty="0"/>
          </a:p>
        </p:txBody>
      </p:sp>
      <p:sp>
        <p:nvSpPr>
          <p:cNvPr id="11" name="Text 8"/>
          <p:cNvSpPr/>
          <p:nvPr/>
        </p:nvSpPr>
        <p:spPr>
          <a:xfrm>
            <a:off x="676656" y="4754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 трека · русский и казахский · текст и OCR</a:t>
            </a:r>
            <a:endParaRPr lang="ru-RU" sz="2200" dirty="0"/>
          </a:p>
        </p:txBody>
      </p:sp>
      <p:sp>
        <p:nvSpPr>
          <p:cNvPr id="12" name="Shape 9"/>
          <p:cNvSpPr/>
          <p:nvPr/>
        </p:nvSpPr>
        <p:spPr>
          <a:xfrm>
            <a:off x="676656" y="5577840"/>
            <a:ext cx="1554480" cy="347472"/>
          </a:xfrm>
          <a:prstGeom prst="roundRect">
            <a:avLst>
              <a:gd name="adj" fmla="val 36842"/>
            </a:avLst>
          </a:prstGeom>
          <a:solidFill>
            <a:srgbClr val="192738"/>
          </a:solidFill>
          <a:ln w="10160">
            <a:solidFill>
              <a:srgbClr val="354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5628132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РУССКИЙ</a:t>
            </a:r>
            <a:endParaRPr lang="ru-RU" sz="1200" dirty="0"/>
          </a:p>
        </p:txBody>
      </p:sp>
      <p:sp>
        <p:nvSpPr>
          <p:cNvPr id="14" name="Shape 11"/>
          <p:cNvSpPr/>
          <p:nvPr/>
        </p:nvSpPr>
        <p:spPr>
          <a:xfrm>
            <a:off x="2395728" y="5577840"/>
            <a:ext cx="1554480" cy="347472"/>
          </a:xfrm>
          <a:prstGeom prst="roundRect">
            <a:avLst>
              <a:gd name="adj" fmla="val 36842"/>
            </a:avLst>
          </a:prstGeom>
          <a:solidFill>
            <a:srgbClr val="192738"/>
          </a:solidFill>
          <a:ln w="10160">
            <a:solidFill>
              <a:srgbClr val="354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05456" y="5628132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ҚАЗАҚША</a:t>
            </a:r>
            <a:endParaRPr lang="ru-RU" sz="1200" dirty="0"/>
          </a:p>
        </p:txBody>
      </p:sp>
      <p:sp>
        <p:nvSpPr>
          <p:cNvPr id="16" name="Shape 13"/>
          <p:cNvSpPr/>
          <p:nvPr/>
        </p:nvSpPr>
        <p:spPr>
          <a:xfrm>
            <a:off x="9601200" y="2468880"/>
            <a:ext cx="1051560" cy="1005840"/>
          </a:xfrm>
          <a:prstGeom prst="line">
            <a:avLst/>
          </a:prstGeom>
          <a:noFill/>
          <a:ln w="25400">
            <a:solidFill>
              <a:srgbClr val="3548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8961120" y="2468880"/>
            <a:ext cx="640080" cy="1965960"/>
          </a:xfrm>
          <a:prstGeom prst="line">
            <a:avLst/>
          </a:prstGeom>
          <a:noFill/>
          <a:ln w="25400">
            <a:solidFill>
              <a:srgbClr val="3548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8961120" y="3474720"/>
            <a:ext cx="1691640" cy="960120"/>
          </a:xfrm>
          <a:prstGeom prst="line">
            <a:avLst/>
          </a:prstGeom>
          <a:noFill/>
          <a:ln w="25400">
            <a:solidFill>
              <a:srgbClr val="3548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0424160" y="3474720"/>
            <a:ext cx="228600" cy="1828800"/>
          </a:xfrm>
          <a:prstGeom prst="line">
            <a:avLst/>
          </a:prstGeom>
          <a:noFill/>
          <a:ln w="25400">
            <a:solidFill>
              <a:srgbClr val="3548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41180" y="2308860"/>
            <a:ext cx="320040" cy="320040"/>
          </a:xfrm>
          <a:prstGeom prst="ellipse">
            <a:avLst/>
          </a:prstGeom>
          <a:solidFill>
            <a:srgbClr val="66E6C1"/>
          </a:solidFill>
          <a:ln w="12700">
            <a:solidFill>
              <a:srgbClr val="66E6C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51008" y="3172968"/>
            <a:ext cx="603504" cy="603504"/>
          </a:xfrm>
          <a:prstGeom prst="ellipse">
            <a:avLst/>
          </a:prstGeom>
          <a:solidFill>
            <a:srgbClr val="66E6C1"/>
          </a:solidFill>
          <a:ln w="12700">
            <a:solidFill>
              <a:srgbClr val="66E6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78240" y="4251960"/>
            <a:ext cx="365760" cy="365760"/>
          </a:xfrm>
          <a:prstGeom prst="ellipse">
            <a:avLst/>
          </a:prstGeom>
          <a:solidFill>
            <a:srgbClr val="66E6C1"/>
          </a:solidFill>
          <a:ln w="12700">
            <a:solidFill>
              <a:srgbClr val="66E6C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14432" y="5193792"/>
            <a:ext cx="219456" cy="219456"/>
          </a:xfrm>
          <a:prstGeom prst="ellipse">
            <a:avLst/>
          </a:prstGeom>
          <a:solidFill>
            <a:srgbClr val="66E6C1"/>
          </a:solidFill>
          <a:ln w="12700">
            <a:solidFill>
              <a:srgbClr val="66E6C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Схемы меняют форму. Сигналы остаются.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ru-RU" sz="3400" dirty="0"/>
          </a:p>
        </p:txBody>
      </p:sp>
      <p:sp>
        <p:nvSpPr>
          <p:cNvPr id="11" name="Shape 8"/>
          <p:cNvSpPr/>
          <p:nvPr/>
        </p:nvSpPr>
        <p:spPr>
          <a:xfrm>
            <a:off x="640080" y="3127248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447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6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Розыгрыши</a:t>
            </a:r>
            <a:endParaRPr lang="ru-RU" sz="2600" dirty="0"/>
          </a:p>
        </p:txBody>
      </p:sp>
      <p:sp>
        <p:nvSpPr>
          <p:cNvPr id="13" name="Text 10"/>
          <p:cNvSpPr/>
          <p:nvPr/>
        </p:nvSpPr>
        <p:spPr>
          <a:xfrm>
            <a:off x="640080" y="43159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Оплата участия</a:t>
            </a:r>
            <a:endParaRPr lang="ru-RU" sz="2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случайный выбор</a:t>
            </a:r>
            <a:endParaRPr lang="ru-RU" sz="2300" dirty="0"/>
          </a:p>
        </p:txBody>
      </p:sp>
      <p:sp>
        <p:nvSpPr>
          <p:cNvPr id="14" name="Text 11"/>
          <p:cNvSpPr/>
          <p:nvPr/>
        </p:nvSpPr>
        <p:spPr>
          <a:xfrm>
            <a:off x="4370832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ru-RU" sz="3400" dirty="0"/>
          </a:p>
        </p:txBody>
      </p:sp>
      <p:sp>
        <p:nvSpPr>
          <p:cNvPr id="15" name="Shape 12"/>
          <p:cNvSpPr/>
          <p:nvPr/>
        </p:nvSpPr>
        <p:spPr>
          <a:xfrm>
            <a:off x="4370832" y="3127248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3447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6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</a:t>
            </a:r>
            <a:endParaRPr lang="ru-RU" sz="2600" dirty="0"/>
          </a:p>
        </p:txBody>
      </p:sp>
      <p:sp>
        <p:nvSpPr>
          <p:cNvPr id="17" name="Text 14"/>
          <p:cNvSpPr/>
          <p:nvPr/>
        </p:nvSpPr>
        <p:spPr>
          <a:xfrm>
            <a:off x="4370832" y="43159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Азартная игра</a:t>
            </a:r>
            <a:endParaRPr lang="ru-RU" sz="2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продвижение</a:t>
            </a:r>
            <a:endParaRPr lang="ru-RU" sz="2300" dirty="0"/>
          </a:p>
        </p:txBody>
      </p:sp>
      <p:sp>
        <p:nvSpPr>
          <p:cNvPr id="18" name="Text 15"/>
          <p:cNvSpPr/>
          <p:nvPr/>
        </p:nvSpPr>
        <p:spPr>
          <a:xfrm>
            <a:off x="8101584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ru-RU" sz="3400" dirty="0"/>
          </a:p>
        </p:txBody>
      </p:sp>
      <p:sp>
        <p:nvSpPr>
          <p:cNvPr id="19" name="Shape 16"/>
          <p:cNvSpPr/>
          <p:nvPr/>
        </p:nvSpPr>
        <p:spPr>
          <a:xfrm>
            <a:off x="8101584" y="3127248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01584" y="34472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6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Инвестиции</a:t>
            </a:r>
            <a:endParaRPr lang="ru-RU" sz="2600" dirty="0"/>
          </a:p>
        </p:txBody>
      </p:sp>
      <p:sp>
        <p:nvSpPr>
          <p:cNvPr id="21" name="Text 18"/>
          <p:cNvSpPr/>
          <p:nvPr/>
        </p:nvSpPr>
        <p:spPr>
          <a:xfrm>
            <a:off x="8101584" y="431596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Обещание дохода</a:t>
            </a:r>
            <a:endParaRPr lang="ru-RU" sz="2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привлечение людей</a:t>
            </a:r>
            <a:endParaRPr lang="ru-RU" sz="2300" dirty="0"/>
          </a:p>
        </p:txBody>
      </p:sp>
      <p:sp>
        <p:nvSpPr>
          <p:cNvPr id="22" name="Text 19"/>
          <p:cNvSpPr/>
          <p:nvPr/>
        </p:nvSpPr>
        <p:spPr>
          <a:xfrm>
            <a:off x="621792" y="605332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Новости, отрицания и бесплатное участие учитываются при разборе контекста.</a:t>
            </a:r>
            <a:endParaRPr lang="ru-RU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РАБОЧИЙ ПРОДУКТ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Одна очередь. Два языка.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ru-RU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929" y="2029968"/>
            <a:ext cx="5779566" cy="4206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2396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Қазақша / Русский</a:t>
            </a:r>
            <a:endParaRPr lang="ru-RU" sz="2200" dirty="0"/>
          </a:p>
        </p:txBody>
      </p:sp>
      <p:sp>
        <p:nvSpPr>
          <p:cNvPr id="12" name="Text 8"/>
          <p:cNvSpPr/>
          <p:nvPr/>
        </p:nvSpPr>
        <p:spPr>
          <a:xfrm>
            <a:off x="8823960" y="3063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языка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сохраняется</a:t>
            </a:r>
            <a:endParaRPr lang="ru-RU" sz="2100" dirty="0"/>
          </a:p>
        </p:txBody>
      </p:sp>
      <p:sp>
        <p:nvSpPr>
          <p:cNvPr id="13" name="Shape 9"/>
          <p:cNvSpPr/>
          <p:nvPr/>
        </p:nvSpPr>
        <p:spPr>
          <a:xfrm>
            <a:off x="8823960" y="4251960"/>
            <a:ext cx="26974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23960" y="4599432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Очередь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Карточка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Сводка</a:t>
            </a:r>
            <a:endParaRPr lang="ru-RU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ОБЪЯСНЕНИЯ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балл можно проверить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ru-RU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7315200" cy="950976"/>
          </a:xfrm>
          <a:prstGeom prst="rect">
            <a:avLst>
              <a:gd name="adj" fmla="val 13462"/>
            </a:avLst>
          </a:prstGeom>
          <a:solidFill>
            <a:srgbClr val="192738"/>
          </a:solidFill>
          <a:ln w="10160">
            <a:solidFill>
              <a:srgbClr val="1927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487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7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«Казино. Жми ссылку.»</a:t>
            </a:r>
            <a:endParaRPr lang="ru-RU" sz="2700" dirty="0"/>
          </a:p>
        </p:txBody>
      </p:sp>
      <p:sp>
        <p:nvSpPr>
          <p:cNvPr id="12" name="Text 9"/>
          <p:cNvSpPr/>
          <p:nvPr/>
        </p:nvSpPr>
        <p:spPr>
          <a:xfrm>
            <a:off x="694944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0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Игровой контекст</a:t>
            </a:r>
            <a:endParaRPr lang="ru-RU" sz="2000" dirty="0"/>
          </a:p>
        </p:txBody>
      </p:sp>
      <p:sp>
        <p:nvSpPr>
          <p:cNvPr id="13" name="Text 10"/>
          <p:cNvSpPr/>
          <p:nvPr/>
        </p:nvSpPr>
        <p:spPr>
          <a:xfrm>
            <a:off x="4389120" y="3593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</a:t>
            </a:r>
            <a:endParaRPr lang="ru-RU" sz="1800" dirty="0"/>
          </a:p>
        </p:txBody>
      </p:sp>
      <p:sp>
        <p:nvSpPr>
          <p:cNvPr id="14" name="Text 11"/>
          <p:cNvSpPr/>
          <p:nvPr/>
        </p:nvSpPr>
        <p:spPr>
          <a:xfrm>
            <a:off x="6995160" y="3593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</a:t>
            </a:r>
            <a:endParaRPr lang="ru-RU" sz="2100" dirty="0"/>
          </a:p>
        </p:txBody>
      </p:sp>
      <p:sp>
        <p:nvSpPr>
          <p:cNvPr id="15" name="Shape 12"/>
          <p:cNvSpPr/>
          <p:nvPr/>
        </p:nvSpPr>
        <p:spPr>
          <a:xfrm>
            <a:off x="694944" y="4096512"/>
            <a:ext cx="7214616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0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Призыв к действию</a:t>
            </a:r>
            <a:endParaRPr lang="ru-RU" sz="2000" dirty="0"/>
          </a:p>
        </p:txBody>
      </p:sp>
      <p:sp>
        <p:nvSpPr>
          <p:cNvPr id="17" name="Text 14"/>
          <p:cNvSpPr/>
          <p:nvPr/>
        </p:nvSpPr>
        <p:spPr>
          <a:xfrm>
            <a:off x="4389120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Жми</a:t>
            </a:r>
            <a:endParaRPr lang="ru-RU" sz="1800" dirty="0"/>
          </a:p>
        </p:txBody>
      </p:sp>
      <p:sp>
        <p:nvSpPr>
          <p:cNvPr id="18" name="Text 15"/>
          <p:cNvSpPr/>
          <p:nvPr/>
        </p:nvSpPr>
        <p:spPr>
          <a:xfrm>
            <a:off x="6995160" y="42793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</a:t>
            </a:r>
            <a:endParaRPr lang="ru-RU" sz="2100" dirty="0"/>
          </a:p>
        </p:txBody>
      </p:sp>
      <p:sp>
        <p:nvSpPr>
          <p:cNvPr id="19" name="Shape 16"/>
          <p:cNvSpPr/>
          <p:nvPr/>
        </p:nvSpPr>
        <p:spPr>
          <a:xfrm>
            <a:off x="694944" y="4782312"/>
            <a:ext cx="7214616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0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Сочетание сигналов</a:t>
            </a:r>
            <a:endParaRPr lang="ru-RU" sz="2000" dirty="0"/>
          </a:p>
        </p:txBody>
      </p:sp>
      <p:sp>
        <p:nvSpPr>
          <p:cNvPr id="21" name="Text 18"/>
          <p:cNvSpPr/>
          <p:nvPr/>
        </p:nvSpPr>
        <p:spPr>
          <a:xfrm>
            <a:off x="4389120" y="4965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 + Жми</a:t>
            </a:r>
            <a:endParaRPr lang="ru-RU" sz="1800" dirty="0"/>
          </a:p>
        </p:txBody>
      </p:sp>
      <p:sp>
        <p:nvSpPr>
          <p:cNvPr id="22" name="Text 19"/>
          <p:cNvSpPr/>
          <p:nvPr/>
        </p:nvSpPr>
        <p:spPr>
          <a:xfrm>
            <a:off x="6995160" y="4965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+20</a:t>
            </a:r>
            <a:endParaRPr lang="ru-RU" sz="2100" dirty="0"/>
          </a:p>
        </p:txBody>
      </p:sp>
      <p:sp>
        <p:nvSpPr>
          <p:cNvPr id="23" name="Shape 20"/>
          <p:cNvSpPr/>
          <p:nvPr/>
        </p:nvSpPr>
        <p:spPr>
          <a:xfrm>
            <a:off x="694944" y="5468112"/>
            <a:ext cx="7214616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0" y="24231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83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ru-RU" sz="8300" dirty="0"/>
          </a:p>
        </p:txBody>
      </p:sp>
      <p:sp>
        <p:nvSpPr>
          <p:cNvPr id="25" name="Text 22"/>
          <p:cNvSpPr/>
          <p:nvPr/>
        </p:nvSpPr>
        <p:spPr>
          <a:xfrm>
            <a:off x="868680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баллов из 100</a:t>
            </a:r>
            <a:endParaRPr lang="ru-RU" sz="2200" dirty="0"/>
          </a:p>
        </p:txBody>
      </p:sp>
      <p:sp>
        <p:nvSpPr>
          <p:cNvPr id="26" name="Text 23"/>
          <p:cNvSpPr/>
          <p:nvPr/>
        </p:nvSpPr>
        <p:spPr>
          <a:xfrm>
            <a:off x="8686800" y="47731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Точная цитата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каждого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вклада</a:t>
            </a:r>
            <a:endParaRPr lang="ru-RU" sz="2100" dirty="0"/>
          </a:p>
        </p:txBody>
      </p:sp>
      <p:sp>
        <p:nvSpPr>
          <p:cNvPr id="27" name="Text 24"/>
          <p:cNvSpPr/>
          <p:nvPr/>
        </p:nvSpPr>
        <p:spPr>
          <a:xfrm>
            <a:off x="621792" y="605332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Синтетический пример без влияния графа. Балл не является вероятностью.</a:t>
            </a:r>
            <a:endParaRPr lang="ru-RU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 СВЯЗЕЙ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Общий домен связывает два материала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ru-RU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772" y="2048256"/>
            <a:ext cx="6083320" cy="42245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2396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5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+15</a:t>
            </a:r>
            <a:endParaRPr lang="ru-RU" sz="3500" dirty="0"/>
          </a:p>
        </p:txBody>
      </p:sp>
      <p:sp>
        <p:nvSpPr>
          <p:cNvPr id="12" name="Text 8"/>
          <p:cNvSpPr/>
          <p:nvPr/>
        </p:nvSpPr>
        <p:spPr>
          <a:xfrm>
            <a:off x="8823960" y="336499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Влияние связи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ограничено</a:t>
            </a:r>
            <a:endParaRPr lang="ru-RU" sz="2100" dirty="0"/>
          </a:p>
        </p:txBody>
      </p:sp>
      <p:sp>
        <p:nvSpPr>
          <p:cNvPr id="13" name="Shape 9"/>
          <p:cNvSpPr/>
          <p:nvPr/>
        </p:nvSpPr>
        <p:spPr>
          <a:xfrm>
            <a:off x="8823960" y="4480560"/>
            <a:ext cx="26974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23960" y="47548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каскадного</a:t>
            </a:r>
            <a:endParaRPr lang="ru-RU" sz="1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усиления</a:t>
            </a:r>
            <a:endParaRPr lang="ru-RU" sz="1800" dirty="0"/>
          </a:p>
          <a:p>
            <a:pPr algn="l" indent="0" marL="0">
              <a:lnSpc>
                <a:spcPct val="108000"/>
              </a:lnSpc>
              <a:buNone/>
            </a:pPr>
            <a:endParaRPr lang="ru-RU" sz="1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контекста</a:t>
            </a:r>
            <a:endParaRPr lang="ru-RU" sz="1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сохраняется</a:t>
            </a:r>
            <a:endParaRPr lang="ru-RU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 ВНУТРИ ИЗОБРАЖЕНИЯ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сохраняет проверяемое основание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ru-RU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533" y="2258568"/>
            <a:ext cx="10709031" cy="18562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6656" y="4434840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6656" y="4663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7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ru-RU" sz="1700" dirty="0"/>
          </a:p>
        </p:txBody>
      </p:sp>
      <p:sp>
        <p:nvSpPr>
          <p:cNvPr id="13" name="Text 9"/>
          <p:cNvSpPr/>
          <p:nvPr/>
        </p:nvSpPr>
        <p:spPr>
          <a:xfrm>
            <a:off x="676656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Распознать</a:t>
            </a:r>
            <a:endParaRPr lang="ru-RU" sz="2100" dirty="0"/>
          </a:p>
        </p:txBody>
      </p:sp>
      <p:sp>
        <p:nvSpPr>
          <p:cNvPr id="14" name="Text 10"/>
          <p:cNvSpPr/>
          <p:nvPr/>
        </p:nvSpPr>
        <p:spPr>
          <a:xfrm>
            <a:off x="676656" y="5779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6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OCR: RU / KK</a:t>
            </a:r>
            <a:endParaRPr lang="ru-RU" sz="1600" dirty="0"/>
          </a:p>
        </p:txBody>
      </p:sp>
      <p:sp>
        <p:nvSpPr>
          <p:cNvPr id="15" name="Shape 11"/>
          <p:cNvSpPr/>
          <p:nvPr/>
        </p:nvSpPr>
        <p:spPr>
          <a:xfrm>
            <a:off x="4379976" y="4434840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79976" y="4663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7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ru-RU" sz="1700" dirty="0"/>
          </a:p>
        </p:txBody>
      </p:sp>
      <p:sp>
        <p:nvSpPr>
          <p:cNvPr id="17" name="Text 13"/>
          <p:cNvSpPr/>
          <p:nvPr/>
        </p:nvSpPr>
        <p:spPr>
          <a:xfrm>
            <a:off x="4379976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Понять контекст</a:t>
            </a:r>
            <a:endParaRPr lang="ru-RU" sz="2100" dirty="0"/>
          </a:p>
        </p:txBody>
      </p:sp>
      <p:sp>
        <p:nvSpPr>
          <p:cNvPr id="18" name="Text 14"/>
          <p:cNvSpPr/>
          <p:nvPr/>
        </p:nvSpPr>
        <p:spPr>
          <a:xfrm>
            <a:off x="4379976" y="5779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6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«Участие без оплаты»</a:t>
            </a:r>
            <a:endParaRPr lang="ru-RU" sz="1600" dirty="0"/>
          </a:p>
        </p:txBody>
      </p:sp>
      <p:sp>
        <p:nvSpPr>
          <p:cNvPr id="19" name="Shape 15"/>
          <p:cNvSpPr/>
          <p:nvPr/>
        </p:nvSpPr>
        <p:spPr>
          <a:xfrm>
            <a:off x="8083296" y="4434840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83296" y="4663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7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ru-RU" sz="1700" dirty="0"/>
          </a:p>
        </p:txBody>
      </p:sp>
      <p:sp>
        <p:nvSpPr>
          <p:cNvPr id="21" name="Text 17"/>
          <p:cNvSpPr/>
          <p:nvPr/>
        </p:nvSpPr>
        <p:spPr>
          <a:xfrm>
            <a:off x="8083296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Сохранить основание</a:t>
            </a:r>
            <a:endParaRPr lang="ru-RU" sz="2100" dirty="0"/>
          </a:p>
        </p:txBody>
      </p:sp>
      <p:sp>
        <p:nvSpPr>
          <p:cNvPr id="22" name="Text 18"/>
          <p:cNvSpPr/>
          <p:nvPr/>
        </p:nvSpPr>
        <p:spPr>
          <a:xfrm>
            <a:off x="8083296" y="5779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6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Цитата и координаты</a:t>
            </a:r>
            <a:endParaRPr lang="ru-RU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ИЗМЕРЕННЫЙ ПРОГРЕСС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Казино: найдено 16 из 48 примеров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441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Полнота казино</a:t>
            </a:r>
            <a:endParaRPr lang="ru-RU" sz="2100" dirty="0"/>
          </a:p>
        </p:txBody>
      </p:sp>
      <p:sp>
        <p:nvSpPr>
          <p:cNvPr id="11" name="Text 8"/>
          <p:cNvSpPr/>
          <p:nvPr/>
        </p:nvSpPr>
        <p:spPr>
          <a:xfrm>
            <a:off x="640080" y="3401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0,0%</a:t>
            </a:r>
            <a:endParaRPr lang="ru-RU" sz="3500" dirty="0"/>
          </a:p>
        </p:txBody>
      </p:sp>
      <p:sp>
        <p:nvSpPr>
          <p:cNvPr id="12" name="Text 9"/>
          <p:cNvSpPr/>
          <p:nvPr/>
        </p:nvSpPr>
        <p:spPr>
          <a:xfrm>
            <a:off x="640080" y="4215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4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ru-RU" sz="2400" dirty="0"/>
          </a:p>
        </p:txBody>
      </p:sp>
      <p:sp>
        <p:nvSpPr>
          <p:cNvPr id="13" name="Text 10"/>
          <p:cNvSpPr/>
          <p:nvPr/>
        </p:nvSpPr>
        <p:spPr>
          <a:xfrm>
            <a:off x="640080" y="47914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0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33,3%</a:t>
            </a:r>
            <a:endParaRPr lang="ru-RU" sz="4000" dirty="0"/>
          </a:p>
        </p:txBody>
      </p:sp>
      <p:sp>
        <p:nvSpPr>
          <p:cNvPr id="14" name="Text 11"/>
          <p:cNvSpPr/>
          <p:nvPr/>
        </p:nvSpPr>
        <p:spPr>
          <a:xfrm>
            <a:off x="4370832" y="2441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Ложные тревоги казино</a:t>
            </a:r>
            <a:endParaRPr lang="ru-RU" sz="2100" dirty="0"/>
          </a:p>
        </p:txBody>
      </p:sp>
      <p:sp>
        <p:nvSpPr>
          <p:cNvPr id="15" name="Text 12"/>
          <p:cNvSpPr/>
          <p:nvPr/>
        </p:nvSpPr>
        <p:spPr>
          <a:xfrm>
            <a:off x="4370832" y="3401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ru-RU" sz="3500" dirty="0"/>
          </a:p>
        </p:txBody>
      </p:sp>
      <p:sp>
        <p:nvSpPr>
          <p:cNvPr id="16" name="Text 13"/>
          <p:cNvSpPr/>
          <p:nvPr/>
        </p:nvSpPr>
        <p:spPr>
          <a:xfrm>
            <a:off x="4370832" y="4215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4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ru-RU" sz="2400" dirty="0"/>
          </a:p>
        </p:txBody>
      </p:sp>
      <p:sp>
        <p:nvSpPr>
          <p:cNvPr id="17" name="Text 14"/>
          <p:cNvSpPr/>
          <p:nvPr/>
        </p:nvSpPr>
        <p:spPr>
          <a:xfrm>
            <a:off x="4370832" y="47914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0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ru-RU" sz="4000" dirty="0"/>
          </a:p>
        </p:txBody>
      </p:sp>
      <p:sp>
        <p:nvSpPr>
          <p:cNvPr id="18" name="Text 15"/>
          <p:cNvSpPr/>
          <p:nvPr/>
        </p:nvSpPr>
        <p:spPr>
          <a:xfrm>
            <a:off x="8101584" y="24414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FPR всей очереди</a:t>
            </a:r>
            <a:endParaRPr lang="ru-RU" sz="2100" dirty="0"/>
          </a:p>
        </p:txBody>
      </p:sp>
      <p:sp>
        <p:nvSpPr>
          <p:cNvPr id="19" name="Text 16"/>
          <p:cNvSpPr/>
          <p:nvPr/>
        </p:nvSpPr>
        <p:spPr>
          <a:xfrm>
            <a:off x="8101584" y="3401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11,1%</a:t>
            </a:r>
            <a:endParaRPr lang="ru-RU" sz="3500" dirty="0"/>
          </a:p>
        </p:txBody>
      </p:sp>
      <p:sp>
        <p:nvSpPr>
          <p:cNvPr id="20" name="Text 17"/>
          <p:cNvSpPr/>
          <p:nvPr/>
        </p:nvSpPr>
        <p:spPr>
          <a:xfrm>
            <a:off x="8101584" y="4215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4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ru-RU" sz="2400" dirty="0"/>
          </a:p>
        </p:txBody>
      </p:sp>
      <p:sp>
        <p:nvSpPr>
          <p:cNvPr id="21" name="Text 18"/>
          <p:cNvSpPr/>
          <p:nvPr/>
        </p:nvSpPr>
        <p:spPr>
          <a:xfrm>
            <a:off x="8101584" y="47914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0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6,9%</a:t>
            </a:r>
            <a:endParaRPr lang="ru-RU" sz="4000" dirty="0"/>
          </a:p>
        </p:txBody>
      </p:sp>
      <p:sp>
        <p:nvSpPr>
          <p:cNvPr id="22" name="Text 19"/>
          <p:cNvSpPr/>
          <p:nvPr/>
        </p:nvSpPr>
        <p:spPr>
          <a:xfrm>
            <a:off x="621792" y="605332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Повторный test · синтетика · 240 материалов · пороги 45/55 по validation.</a:t>
            </a:r>
            <a:endParaRPr lang="ru-RU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ПРОВЕРЯЕМЫЙ РЕЗУЛЬТАТ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Функции готовы. Качество имеет предел.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2359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b="1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Трек</a:t>
            </a:r>
            <a:endParaRPr lang="ru-RU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2359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b="1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ru-RU" sz="1800" dirty="0"/>
          </a:p>
        </p:txBody>
      </p:sp>
      <p:sp>
        <p:nvSpPr>
          <p:cNvPr id="12" name="Text 9"/>
          <p:cNvSpPr/>
          <p:nvPr/>
        </p:nvSpPr>
        <p:spPr>
          <a:xfrm>
            <a:off x="7059168" y="2359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b="1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ru-RU" sz="1800" dirty="0"/>
          </a:p>
        </p:txBody>
      </p:sp>
      <p:sp>
        <p:nvSpPr>
          <p:cNvPr id="13" name="Text 10"/>
          <p:cNvSpPr/>
          <p:nvPr/>
        </p:nvSpPr>
        <p:spPr>
          <a:xfrm>
            <a:off x="9710928" y="23591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800" b="1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</a:t>
            </a:r>
            <a:endParaRPr lang="ru-RU" sz="1800" dirty="0"/>
          </a:p>
        </p:txBody>
      </p:sp>
      <p:sp>
        <p:nvSpPr>
          <p:cNvPr id="14" name="Shape 11"/>
          <p:cNvSpPr/>
          <p:nvPr/>
        </p:nvSpPr>
        <p:spPr>
          <a:xfrm>
            <a:off x="676656" y="2880360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246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Розыгрыши</a:t>
            </a:r>
            <a:endParaRPr lang="ru-RU" sz="2500" dirty="0"/>
          </a:p>
        </p:txBody>
      </p:sp>
      <p:sp>
        <p:nvSpPr>
          <p:cNvPr id="16" name="Text 13"/>
          <p:cNvSpPr/>
          <p:nvPr/>
        </p:nvSpPr>
        <p:spPr>
          <a:xfrm>
            <a:off x="45720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84,6%</a:t>
            </a:r>
            <a:endParaRPr lang="ru-RU" sz="2500" dirty="0"/>
          </a:p>
        </p:txBody>
      </p:sp>
      <p:sp>
        <p:nvSpPr>
          <p:cNvPr id="17" name="Text 14"/>
          <p:cNvSpPr/>
          <p:nvPr/>
        </p:nvSpPr>
        <p:spPr>
          <a:xfrm>
            <a:off x="705916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91,7%</a:t>
            </a:r>
            <a:endParaRPr lang="ru-RU" sz="2500" dirty="0"/>
          </a:p>
        </p:txBody>
      </p:sp>
      <p:sp>
        <p:nvSpPr>
          <p:cNvPr id="18" name="Text 15"/>
          <p:cNvSpPr/>
          <p:nvPr/>
        </p:nvSpPr>
        <p:spPr>
          <a:xfrm>
            <a:off x="9710928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0,88</a:t>
            </a:r>
            <a:endParaRPr lang="ru-RU" sz="2500" dirty="0"/>
          </a:p>
        </p:txBody>
      </p:sp>
      <p:sp>
        <p:nvSpPr>
          <p:cNvPr id="19" name="Shape 16"/>
          <p:cNvSpPr/>
          <p:nvPr/>
        </p:nvSpPr>
        <p:spPr>
          <a:xfrm>
            <a:off x="676656" y="3776472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9410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</a:t>
            </a:r>
            <a:endParaRPr lang="ru-RU" sz="2500" dirty="0"/>
          </a:p>
        </p:txBody>
      </p:sp>
      <p:sp>
        <p:nvSpPr>
          <p:cNvPr id="21" name="Text 18"/>
          <p:cNvSpPr/>
          <p:nvPr/>
        </p:nvSpPr>
        <p:spPr>
          <a:xfrm>
            <a:off x="4572000" y="3941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100,0%</a:t>
            </a:r>
            <a:endParaRPr lang="ru-RU" sz="2500" dirty="0"/>
          </a:p>
        </p:txBody>
      </p:sp>
      <p:sp>
        <p:nvSpPr>
          <p:cNvPr id="22" name="Text 19"/>
          <p:cNvSpPr/>
          <p:nvPr/>
        </p:nvSpPr>
        <p:spPr>
          <a:xfrm>
            <a:off x="7059168" y="3941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BB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33,3%</a:t>
            </a:r>
            <a:endParaRPr lang="ru-RU" sz="2500" dirty="0"/>
          </a:p>
        </p:txBody>
      </p:sp>
      <p:sp>
        <p:nvSpPr>
          <p:cNvPr id="23" name="Text 20"/>
          <p:cNvSpPr/>
          <p:nvPr/>
        </p:nvSpPr>
        <p:spPr>
          <a:xfrm>
            <a:off x="9710928" y="3941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0,50</a:t>
            </a:r>
            <a:endParaRPr lang="ru-RU" sz="2500" dirty="0"/>
          </a:p>
        </p:txBody>
      </p:sp>
      <p:sp>
        <p:nvSpPr>
          <p:cNvPr id="24" name="Shape 21"/>
          <p:cNvSpPr/>
          <p:nvPr/>
        </p:nvSpPr>
        <p:spPr>
          <a:xfrm>
            <a:off x="676656" y="4471416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46360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Инвестиции</a:t>
            </a:r>
            <a:endParaRPr lang="ru-RU" sz="2500" dirty="0"/>
          </a:p>
        </p:txBody>
      </p:sp>
      <p:sp>
        <p:nvSpPr>
          <p:cNvPr id="26" name="Text 23"/>
          <p:cNvSpPr/>
          <p:nvPr/>
        </p:nvSpPr>
        <p:spPr>
          <a:xfrm>
            <a:off x="4572000" y="4636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82,4%</a:t>
            </a:r>
            <a:endParaRPr lang="ru-RU" sz="2500" dirty="0"/>
          </a:p>
        </p:txBody>
      </p:sp>
      <p:sp>
        <p:nvSpPr>
          <p:cNvPr id="27" name="Text 24"/>
          <p:cNvSpPr/>
          <p:nvPr/>
        </p:nvSpPr>
        <p:spPr>
          <a:xfrm>
            <a:off x="7059168" y="4636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58,3%</a:t>
            </a:r>
            <a:endParaRPr lang="ru-RU" sz="2500" dirty="0"/>
          </a:p>
        </p:txBody>
      </p:sp>
      <p:sp>
        <p:nvSpPr>
          <p:cNvPr id="28" name="Text 25"/>
          <p:cNvSpPr/>
          <p:nvPr/>
        </p:nvSpPr>
        <p:spPr>
          <a:xfrm>
            <a:off x="9710928" y="4636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0,68</a:t>
            </a:r>
            <a:endParaRPr lang="ru-RU" sz="2500" dirty="0"/>
          </a:p>
        </p:txBody>
      </p:sp>
      <p:sp>
        <p:nvSpPr>
          <p:cNvPr id="29" name="Shape 26"/>
          <p:cNvSpPr/>
          <p:nvPr/>
        </p:nvSpPr>
        <p:spPr>
          <a:xfrm>
            <a:off x="676656" y="5166360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5715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309 тестов пройдено</a:t>
            </a:r>
            <a:endParaRPr lang="ru-RU" sz="2300" dirty="0"/>
          </a:p>
        </p:txBody>
      </p:sp>
      <p:sp>
        <p:nvSpPr>
          <p:cNvPr id="31" name="Text 28"/>
          <p:cNvSpPr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6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Синтетическая регрессия ≠ реальная точность</a:t>
            </a:r>
            <a:endParaRPr lang="ru-RU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МЕТОДИКА И ГРАНИЦЫ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шаг — независимая проверка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676656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53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720</a:t>
            </a:r>
            <a:endParaRPr lang="ru-RU" sz="5300" dirty="0"/>
          </a:p>
        </p:txBody>
      </p:sp>
      <p:sp>
        <p:nvSpPr>
          <p:cNvPr id="11" name="Text 8"/>
          <p:cNvSpPr/>
          <p:nvPr/>
        </p:nvSpPr>
        <p:spPr>
          <a:xfrm>
            <a:off x="676656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</a:t>
            </a:r>
            <a:endParaRPr lang="ru-RU" sz="2300" dirty="0"/>
          </a:p>
        </p:txBody>
      </p:sp>
      <p:sp>
        <p:nvSpPr>
          <p:cNvPr id="12" name="Shape 9"/>
          <p:cNvSpPr/>
          <p:nvPr/>
        </p:nvSpPr>
        <p:spPr>
          <a:xfrm>
            <a:off x="676656" y="3995928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9976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53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ru-RU" sz="5300" dirty="0"/>
          </a:p>
        </p:txBody>
      </p:sp>
      <p:sp>
        <p:nvSpPr>
          <p:cNvPr id="14" name="Text 11"/>
          <p:cNvSpPr/>
          <p:nvPr/>
        </p:nvSpPr>
        <p:spPr>
          <a:xfrm>
            <a:off x="4379976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ru-RU" sz="2300" dirty="0"/>
          </a:p>
        </p:txBody>
      </p:sp>
      <p:sp>
        <p:nvSpPr>
          <p:cNvPr id="15" name="Shape 12"/>
          <p:cNvSpPr/>
          <p:nvPr/>
        </p:nvSpPr>
        <p:spPr>
          <a:xfrm>
            <a:off x="4379976" y="3995928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83296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53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ru-RU" sz="5300" dirty="0"/>
          </a:p>
        </p:txBody>
      </p:sp>
      <p:sp>
        <p:nvSpPr>
          <p:cNvPr id="17" name="Text 14"/>
          <p:cNvSpPr/>
          <p:nvPr/>
        </p:nvSpPr>
        <p:spPr>
          <a:xfrm>
            <a:off x="8083296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3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ru-RU" sz="2300" dirty="0"/>
          </a:p>
        </p:txBody>
      </p:sp>
      <p:sp>
        <p:nvSpPr>
          <p:cNvPr id="18" name="Shape 15"/>
          <p:cNvSpPr/>
          <p:nvPr/>
        </p:nvSpPr>
        <p:spPr>
          <a:xfrm>
            <a:off x="8083296" y="3995928"/>
            <a:ext cx="333756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4480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9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пересечений семей, кампаний и сущностей</a:t>
            </a:r>
            <a:endParaRPr lang="ru-RU" sz="2900" dirty="0"/>
          </a:p>
        </p:txBody>
      </p:sp>
      <p:sp>
        <p:nvSpPr>
          <p:cNvPr id="20" name="Text 17"/>
          <p:cNvSpPr/>
          <p:nvPr/>
        </p:nvSpPr>
        <p:spPr>
          <a:xfrm>
            <a:off x="694944" y="543153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4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Новый независимый набор → согласованные критерии → пилот</a:t>
            </a:r>
            <a:endParaRPr lang="ru-RU" sz="2400" dirty="0"/>
          </a:p>
        </p:txBody>
      </p:sp>
      <p:sp>
        <p:nvSpPr>
          <p:cNvPr id="21" name="Text 18"/>
          <p:cNvSpPr/>
          <p:nvPr/>
        </p:nvSpPr>
        <p:spPr>
          <a:xfrm>
            <a:off x="621792" y="605332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Перенос на реальные данные ещё не подтверждён.</a:t>
            </a:r>
            <a:endParaRPr lang="ru-RU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ПРЕДЛОЖЕНИЕ ДЛЯ ПИЛОТА</a:t>
            </a:r>
            <a:endParaRPr lang="ru-RU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Проверить пользу вместе с аналитиками</a:t>
            </a:r>
            <a:endParaRPr lang="ru-RU" sz="3200" dirty="0"/>
          </a:p>
        </p:txBody>
      </p:sp>
      <p:sp>
        <p:nvSpPr>
          <p:cNvPr id="6" name="Shape 4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8" name="Text 6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23408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ru-RU" sz="3200" dirty="0"/>
          </a:p>
        </p:txBody>
      </p:sp>
      <p:sp>
        <p:nvSpPr>
          <p:cNvPr id="11" name="Shape 8"/>
          <p:cNvSpPr/>
          <p:nvPr/>
        </p:nvSpPr>
        <p:spPr>
          <a:xfrm>
            <a:off x="658368" y="3090672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456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Согласовать данные</a:t>
            </a:r>
            <a:endParaRPr lang="ru-RU" sz="2500" dirty="0"/>
          </a:p>
        </p:txBody>
      </p:sp>
      <p:sp>
        <p:nvSpPr>
          <p:cNvPr id="13" name="Text 10"/>
          <p:cNvSpPr/>
          <p:nvPr/>
        </p:nvSpPr>
        <p:spPr>
          <a:xfrm>
            <a:off x="658368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Обезличенные материалы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правила доступа</a:t>
            </a:r>
            <a:endParaRPr lang="ru-RU" sz="2100" dirty="0"/>
          </a:p>
        </p:txBody>
      </p:sp>
      <p:sp>
        <p:nvSpPr>
          <p:cNvPr id="14" name="Text 11"/>
          <p:cNvSpPr/>
          <p:nvPr/>
        </p:nvSpPr>
        <p:spPr>
          <a:xfrm>
            <a:off x="4389120" y="23408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ru-RU" sz="3200" dirty="0"/>
          </a:p>
        </p:txBody>
      </p:sp>
      <p:sp>
        <p:nvSpPr>
          <p:cNvPr id="15" name="Shape 12"/>
          <p:cNvSpPr/>
          <p:nvPr/>
        </p:nvSpPr>
        <p:spPr>
          <a:xfrm>
            <a:off x="4389120" y="3090672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3456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Зафиксировать успех</a:t>
            </a:r>
            <a:endParaRPr lang="ru-RU" sz="2500" dirty="0"/>
          </a:p>
        </p:txBody>
      </p:sp>
      <p:sp>
        <p:nvSpPr>
          <p:cNvPr id="17" name="Text 14"/>
          <p:cNvSpPr/>
          <p:nvPr/>
        </p:nvSpPr>
        <p:spPr>
          <a:xfrm>
            <a:off x="438912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Полнота, ложные тревоги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время проверки</a:t>
            </a:r>
            <a:endParaRPr lang="ru-RU" sz="2100" dirty="0"/>
          </a:p>
        </p:txBody>
      </p:sp>
      <p:sp>
        <p:nvSpPr>
          <p:cNvPr id="18" name="Text 15"/>
          <p:cNvSpPr/>
          <p:nvPr/>
        </p:nvSpPr>
        <p:spPr>
          <a:xfrm>
            <a:off x="8119872" y="23408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ru-RU" sz="3200" dirty="0"/>
          </a:p>
        </p:txBody>
      </p:sp>
      <p:sp>
        <p:nvSpPr>
          <p:cNvPr id="19" name="Shape 16"/>
          <p:cNvSpPr/>
          <p:nvPr/>
        </p:nvSpPr>
        <p:spPr>
          <a:xfrm>
            <a:off x="8119872" y="3090672"/>
            <a:ext cx="3383280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9872" y="3456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Провести пилот</a:t>
            </a:r>
            <a:endParaRPr lang="ru-RU" sz="2500" dirty="0"/>
          </a:p>
        </p:txBody>
      </p:sp>
      <p:sp>
        <p:nvSpPr>
          <p:cNvPr id="21" name="Text 18"/>
          <p:cNvSpPr/>
          <p:nvPr/>
        </p:nvSpPr>
        <p:spPr>
          <a:xfrm>
            <a:off x="8119872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с ручной работой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независимая оценка</a:t>
            </a:r>
            <a:endParaRPr lang="ru-RU" sz="2100" dirty="0"/>
          </a:p>
        </p:txBody>
      </p:sp>
      <p:sp>
        <p:nvSpPr>
          <p:cNvPr id="22" name="Text 19"/>
          <p:cNvSpPr/>
          <p:nvPr/>
        </p:nvSpPr>
        <p:spPr>
          <a:xfrm>
            <a:off x="676656" y="5806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5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safenet-kz.vercel.app</a:t>
            </a:r>
            <a:endParaRPr lang="ru-RU" sz="2500" dirty="0"/>
          </a:p>
        </p:txBody>
      </p:sp>
      <p:sp>
        <p:nvSpPr>
          <p:cNvPr id="23" name="Text 20"/>
          <p:cNvSpPr/>
          <p:nvPr/>
        </p:nvSpPr>
        <p:spPr>
          <a:xfrm>
            <a:off x="822960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4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через Vercel</a:t>
            </a:r>
            <a:endParaRPr lang="ru-RU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7772400" y="246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ДЛЯ ВОПРОСОВ</a:t>
            </a:r>
            <a:endParaRPr lang="ru-RU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МЕТОДИКА</a:t>
            </a:r>
            <a:endParaRPr lang="ru-RU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именно означают цифры</a:t>
            </a:r>
            <a:endParaRPr lang="ru-RU" sz="3200" dirty="0"/>
          </a:p>
        </p:txBody>
      </p:sp>
      <p:sp>
        <p:nvSpPr>
          <p:cNvPr id="7" name="Shape 5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9" name="Text 7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ru-RU" sz="1200" dirty="0"/>
          </a:p>
        </p:txBody>
      </p:sp>
      <p:sp>
        <p:nvSpPr>
          <p:cNvPr id="11" name="Text 8"/>
          <p:cNvSpPr/>
          <p:nvPr/>
        </p:nvSpPr>
        <p:spPr>
          <a:xfrm>
            <a:off x="676656" y="22677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7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Казино: матрица ошибок</a:t>
            </a:r>
            <a:endParaRPr lang="ru-RU" sz="2700" dirty="0"/>
          </a:p>
        </p:txBody>
      </p:sp>
      <p:sp>
        <p:nvSpPr>
          <p:cNvPr id="12" name="Shape 9"/>
          <p:cNvSpPr/>
          <p:nvPr/>
        </p:nvSpPr>
        <p:spPr>
          <a:xfrm>
            <a:off x="685800" y="3108960"/>
            <a:ext cx="2615184" cy="1115568"/>
          </a:xfrm>
          <a:prstGeom prst="rect">
            <a:avLst>
              <a:gd name="adj" fmla="val 11475"/>
            </a:avLst>
          </a:prstGeom>
          <a:solidFill>
            <a:srgbClr val="192738"/>
          </a:solidFill>
          <a:ln w="10160">
            <a:solidFill>
              <a:srgbClr val="1927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246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</a:t>
            </a:r>
            <a:endParaRPr lang="ru-RU" sz="1500" dirty="0"/>
          </a:p>
        </p:txBody>
      </p:sp>
      <p:sp>
        <p:nvSpPr>
          <p:cNvPr id="14" name="Text 11"/>
          <p:cNvSpPr/>
          <p:nvPr/>
        </p:nvSpPr>
        <p:spPr>
          <a:xfrm>
            <a:off x="1673352" y="33192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ru-RU" sz="3400" dirty="0"/>
          </a:p>
        </p:txBody>
      </p:sp>
      <p:sp>
        <p:nvSpPr>
          <p:cNvPr id="15" name="Shape 12"/>
          <p:cNvSpPr/>
          <p:nvPr/>
        </p:nvSpPr>
        <p:spPr>
          <a:xfrm>
            <a:off x="3520440" y="3108960"/>
            <a:ext cx="2615184" cy="1115568"/>
          </a:xfrm>
          <a:prstGeom prst="rect">
            <a:avLst>
              <a:gd name="adj" fmla="val 11475"/>
            </a:avLst>
          </a:prstGeom>
          <a:solidFill>
            <a:srgbClr val="192738"/>
          </a:solidFill>
          <a:ln w="10160">
            <a:solidFill>
              <a:srgbClr val="1927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3320" y="3246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</a:t>
            </a:r>
            <a:endParaRPr lang="ru-RU" sz="1500" dirty="0"/>
          </a:p>
        </p:txBody>
      </p:sp>
      <p:sp>
        <p:nvSpPr>
          <p:cNvPr id="17" name="Text 14"/>
          <p:cNvSpPr/>
          <p:nvPr/>
        </p:nvSpPr>
        <p:spPr>
          <a:xfrm>
            <a:off x="4507992" y="33192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ru-RU" sz="3400" dirty="0"/>
          </a:p>
        </p:txBody>
      </p:sp>
      <p:sp>
        <p:nvSpPr>
          <p:cNvPr id="18" name="Shape 15"/>
          <p:cNvSpPr/>
          <p:nvPr/>
        </p:nvSpPr>
        <p:spPr>
          <a:xfrm>
            <a:off x="685800" y="4443984"/>
            <a:ext cx="2615184" cy="1115568"/>
          </a:xfrm>
          <a:prstGeom prst="rect">
            <a:avLst>
              <a:gd name="adj" fmla="val 11475"/>
            </a:avLst>
          </a:prstGeom>
          <a:solidFill>
            <a:srgbClr val="192738"/>
          </a:solidFill>
          <a:ln w="10160">
            <a:solidFill>
              <a:srgbClr val="1927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581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</a:t>
            </a:r>
            <a:endParaRPr lang="ru-RU" sz="1500" dirty="0"/>
          </a:p>
        </p:txBody>
      </p:sp>
      <p:sp>
        <p:nvSpPr>
          <p:cNvPr id="20" name="Text 17"/>
          <p:cNvSpPr/>
          <p:nvPr/>
        </p:nvSpPr>
        <p:spPr>
          <a:xfrm>
            <a:off x="1673352" y="46542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F3BB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ru-RU" sz="3400" dirty="0"/>
          </a:p>
        </p:txBody>
      </p:sp>
      <p:sp>
        <p:nvSpPr>
          <p:cNvPr id="21" name="Shape 18"/>
          <p:cNvSpPr/>
          <p:nvPr/>
        </p:nvSpPr>
        <p:spPr>
          <a:xfrm>
            <a:off x="3520440" y="4443984"/>
            <a:ext cx="2615184" cy="1115568"/>
          </a:xfrm>
          <a:prstGeom prst="rect">
            <a:avLst>
              <a:gd name="adj" fmla="val 11475"/>
            </a:avLst>
          </a:prstGeom>
          <a:solidFill>
            <a:srgbClr val="192738"/>
          </a:solidFill>
          <a:ln w="10160">
            <a:solidFill>
              <a:srgbClr val="1927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45811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TN</a:t>
            </a:r>
            <a:endParaRPr lang="ru-RU" sz="1500" dirty="0"/>
          </a:p>
        </p:txBody>
      </p:sp>
      <p:sp>
        <p:nvSpPr>
          <p:cNvPr id="23" name="Text 20"/>
          <p:cNvSpPr/>
          <p:nvPr/>
        </p:nvSpPr>
        <p:spPr>
          <a:xfrm>
            <a:off x="4507992" y="46542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34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</a:t>
            </a:r>
            <a:endParaRPr lang="ru-RU" sz="3400" dirty="0"/>
          </a:p>
        </p:txBody>
      </p:sp>
      <p:sp>
        <p:nvSpPr>
          <p:cNvPr id="24" name="Text 21"/>
          <p:cNvSpPr/>
          <p:nvPr/>
        </p:nvSpPr>
        <p:spPr>
          <a:xfrm>
            <a:off x="6858000" y="235915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9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/ 55</a:t>
            </a:r>
            <a:endParaRPr lang="ru-RU" sz="4900" dirty="0"/>
          </a:p>
        </p:txBody>
      </p:sp>
      <p:sp>
        <p:nvSpPr>
          <p:cNvPr id="25" name="Text 22"/>
          <p:cNvSpPr/>
          <p:nvPr/>
        </p:nvSpPr>
        <p:spPr>
          <a:xfrm>
            <a:off x="6876288" y="3474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Средний / высокий приоритет</a:t>
            </a:r>
            <a:endParaRPr lang="ru-RU" sz="2200" dirty="0"/>
          </a:p>
        </p:txBody>
      </p:sp>
      <p:sp>
        <p:nvSpPr>
          <p:cNvPr id="26" name="Text 23"/>
          <p:cNvSpPr/>
          <p:nvPr/>
        </p:nvSpPr>
        <p:spPr>
          <a:xfrm>
            <a:off x="6876288" y="44348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Веса — вручную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Пороги — validation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— повторная регрессия</a:t>
            </a:r>
            <a:endParaRPr lang="ru-RU" sz="2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 — максимум +15</a:t>
            </a:r>
            <a:endParaRPr lang="ru-RU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100000"/>
            </a:avLst>
          </a:prstGeom>
          <a:solidFill>
            <a:srgbClr val="66E6C1"/>
          </a:solidFill>
          <a:ln w="10160">
            <a:solidFill>
              <a:srgbClr val="66E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</a:t>
            </a:r>
            <a:endParaRPr lang="ru-RU" sz="1200" dirty="0"/>
          </a:p>
        </p:txBody>
      </p:sp>
      <p:sp>
        <p:nvSpPr>
          <p:cNvPr id="4" name="Text 2"/>
          <p:cNvSpPr/>
          <p:nvPr/>
        </p:nvSpPr>
        <p:spPr>
          <a:xfrm>
            <a:off x="7772400" y="246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1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ДЛЯ ВОПРОСОВ</a:t>
            </a:r>
            <a:endParaRPr lang="ru-RU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78638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ПРИЛОЖЕНИЕ · ВОПРОСЫ</a:t>
            </a:r>
            <a:endParaRPr lang="ru-RU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1155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3200" b="1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Готовые ответы и границы продукта</a:t>
            </a:r>
            <a:endParaRPr lang="ru-RU" sz="3200" dirty="0"/>
          </a:p>
        </p:txBody>
      </p:sp>
      <p:sp>
        <p:nvSpPr>
          <p:cNvPr id="7" name="Shape 5"/>
          <p:cNvSpPr/>
          <p:nvPr/>
        </p:nvSpPr>
        <p:spPr>
          <a:xfrm>
            <a:off x="621792" y="6428232"/>
            <a:ext cx="10945368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6547104"/>
            <a:ext cx="8961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000" dirty="0">
                <a:solidFill>
                  <a:srgbClr val="B3C4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SafeNet KZ · 25.10.2026</a:t>
            </a:r>
            <a:endParaRPr lang="ru-RU" sz="1000" dirty="0"/>
          </a:p>
        </p:txBody>
      </p:sp>
      <p:sp>
        <p:nvSpPr>
          <p:cNvPr id="9" name="Text 7"/>
          <p:cNvSpPr/>
          <p:nvPr/>
        </p:nvSpPr>
        <p:spPr>
          <a:xfrm>
            <a:off x="11045952" y="651052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ru-RU" altLang="en-US" sz="1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ru-RU" sz="1200" dirty="0"/>
          </a:p>
        </p:txBody>
      </p:sp>
      <p:sp>
        <p:nvSpPr>
          <p:cNvPr id="11" name="Text 8"/>
          <p:cNvSpPr/>
          <p:nvPr/>
        </p:nvSpPr>
        <p:spPr>
          <a:xfrm>
            <a:off x="694944" y="2286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обученная модель?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5577840" y="22860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Взвешенные правила с точными цитатами.</a:t>
            </a:r>
            <a:endParaRPr lang="ru-RU" sz="2100" dirty="0"/>
          </a:p>
        </p:txBody>
      </p:sp>
      <p:sp>
        <p:nvSpPr>
          <p:cNvPr id="13" name="Shape 10"/>
          <p:cNvSpPr/>
          <p:nvPr/>
        </p:nvSpPr>
        <p:spPr>
          <a:xfrm>
            <a:off x="676656" y="2999232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3172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принимается на вход?</a:t>
            </a:r>
            <a:endParaRPr lang="ru-RU" sz="2200" dirty="0"/>
          </a:p>
        </p:txBody>
      </p:sp>
      <p:sp>
        <p:nvSpPr>
          <p:cNvPr id="15" name="Text 12"/>
          <p:cNvSpPr/>
          <p:nvPr/>
        </p:nvSpPr>
        <p:spPr>
          <a:xfrm>
            <a:off x="5577840" y="3172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Текст, готовые транскрипты, изображения.</a:t>
            </a:r>
            <a:endParaRPr lang="ru-RU" sz="2100" dirty="0"/>
          </a:p>
        </p:txBody>
      </p:sp>
      <p:sp>
        <p:nvSpPr>
          <p:cNvPr id="16" name="Shape 13"/>
          <p:cNvSpPr/>
          <p:nvPr/>
        </p:nvSpPr>
        <p:spPr>
          <a:xfrm>
            <a:off x="676656" y="3886200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0599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остаётся после перезапуска?</a:t>
            </a:r>
            <a:endParaRPr lang="ru-RU" sz="2200" dirty="0"/>
          </a:p>
        </p:txBody>
      </p:sp>
      <p:sp>
        <p:nvSpPr>
          <p:cNvPr id="18" name="Text 15"/>
          <p:cNvSpPr/>
          <p:nvPr/>
        </p:nvSpPr>
        <p:spPr>
          <a:xfrm>
            <a:off x="5577840" y="405993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Подготовка, результаты и решения аналитика.</a:t>
            </a:r>
            <a:endParaRPr lang="ru-RU" sz="2100" dirty="0"/>
          </a:p>
        </p:txBody>
      </p:sp>
      <p:sp>
        <p:nvSpPr>
          <p:cNvPr id="19" name="Shape 16"/>
          <p:cNvSpPr/>
          <p:nvPr/>
        </p:nvSpPr>
        <p:spPr>
          <a:xfrm>
            <a:off x="676656" y="4773168"/>
            <a:ext cx="10844784" cy="0"/>
          </a:xfrm>
          <a:prstGeom prst="line">
            <a:avLst/>
          </a:prstGeom>
          <a:noFill/>
          <a:ln w="17780">
            <a:solidFill>
              <a:srgbClr val="354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49469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200" b="1" dirty="0">
                <a:solidFill>
                  <a:srgbClr val="66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пока не доказано?</a:t>
            </a:r>
            <a:endParaRPr lang="ru-RU" sz="2200" dirty="0"/>
          </a:p>
        </p:txBody>
      </p:sp>
      <p:sp>
        <p:nvSpPr>
          <p:cNvPr id="21" name="Text 18"/>
          <p:cNvSpPr/>
          <p:nvPr/>
        </p:nvSpPr>
        <p:spPr>
          <a:xfrm>
            <a:off x="5577840" y="494690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2100" dirty="0">
                <a:solidFill>
                  <a:srgbClr val="F3F7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на реальном потоке и нагрузочная ёмкость.</a:t>
            </a:r>
            <a:endParaRPr lang="ru-RU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SafeNet 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SafeNet KZ — питч</dc:title>
  <dc:subject>Объяснимый анализ материалов для ручной проверки</dc:subject>
  <dc:creator>SafeNet KZ</dc:creator>
  <cp:lastModifiedBy>SafeNet KZ</cp:lastModifiedBy>
  <cp:revision>1</cp:revision>
  <dcterms:created xsi:type="dcterms:W3CDTF">2026-10-25T16:18:05Z</dcterms:created>
  <dcterms:modified xsi:type="dcterms:W3CDTF">2026-10-25T16:18:05Z</dcterms:modified>
</cp:coreProperties>
</file>